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4" r:id="rId6"/>
    <p:sldId id="270" r:id="rId7"/>
    <p:sldId id="277" r:id="rId8"/>
    <p:sldId id="276" r:id="rId9"/>
    <p:sldId id="278" r:id="rId10"/>
    <p:sldId id="281" r:id="rId11"/>
    <p:sldId id="280" r:id="rId12"/>
    <p:sldId id="282" r:id="rId13"/>
    <p:sldId id="283" r:id="rId14"/>
    <p:sldId id="284" r:id="rId15"/>
    <p:sldId id="285" r:id="rId16"/>
    <p:sldId id="279" r:id="rId17"/>
    <p:sldId id="265" r:id="rId18"/>
    <p:sldId id="272" r:id="rId19"/>
    <p:sldId id="271" r:id="rId20"/>
    <p:sldId id="274" r:id="rId21"/>
    <p:sldId id="275" r:id="rId22"/>
    <p:sldId id="273" r:id="rId23"/>
    <p:sldId id="266" r:id="rId24"/>
    <p:sldId id="268" r:id="rId25"/>
    <p:sldId id="269" r:id="rId26"/>
    <p:sldId id="267" r:id="rId27"/>
    <p:sldId id="260" r:id="rId28"/>
    <p:sldId id="286" r:id="rId29"/>
    <p:sldId id="263" r:id="rId3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27FF"/>
    <a:srgbClr val="8D2AF6"/>
    <a:srgbClr val="7128F3"/>
    <a:srgbClr val="FF9683"/>
    <a:srgbClr val="FF8D7A"/>
    <a:srgbClr val="8228FC"/>
    <a:srgbClr val="FFA491"/>
    <a:srgbClr val="FEA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04" y="54"/>
      </p:cViewPr>
      <p:guideLst>
        <p:guide orient="horz" pos="21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1368D2-1953-4B94-BCAA-1035077B535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FBEA14-A4BC-4591-99CD-B4B0C56873AF}">
      <dgm:prSet phldrT="[Text]"/>
      <dgm:spPr>
        <a:noFill/>
        <a:ln>
          <a:solidFill>
            <a:srgbClr val="FF0000"/>
          </a:solidFill>
        </a:ln>
      </dgm:spPr>
      <dgm:t>
        <a:bodyPr/>
        <a:lstStyle/>
        <a:p>
          <a:r>
            <a:rPr lang="en-US"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rPr>
            <a:t>Discover</a:t>
          </a:r>
        </a:p>
      </dgm:t>
    </dgm:pt>
    <dgm:pt modelId="{C83E4153-F2E5-4A22-972B-7F9C082FC99E}" type="parTrans" cxnId="{B0AD5CD7-C0B6-4B63-97FE-5B54FB2F2B68}">
      <dgm:prSet/>
      <dgm:spPr/>
      <dgm:t>
        <a:bodyPr/>
        <a:lstStyle/>
        <a:p>
          <a:endParaRPr lang="en-US"/>
        </a:p>
      </dgm:t>
    </dgm:pt>
    <dgm:pt modelId="{9C56FBDE-182A-43E6-8141-4D30F468EB50}" type="sibTrans" cxnId="{B0AD5CD7-C0B6-4B63-97FE-5B54FB2F2B68}">
      <dgm:prSet/>
      <dgm:spPr/>
      <dgm:t>
        <a:bodyPr/>
        <a:lstStyle/>
        <a:p>
          <a:endParaRPr lang="en-US">
            <a:latin typeface="Hack Regular" panose="020B0609030202020204" pitchFamily="49" charset="0"/>
            <a:ea typeface="Hack Regular" panose="020B0609030202020204" pitchFamily="49" charset="0"/>
            <a:cs typeface="Hack Regular" panose="020B0609030202020204" pitchFamily="49" charset="0"/>
          </a:endParaRPr>
        </a:p>
      </dgm:t>
    </dgm:pt>
    <dgm:pt modelId="{4D96F9CF-D1D0-4F3C-A031-CB0DDA57906F}">
      <dgm:prSet phldrT="[Text]"/>
      <dgm:spPr>
        <a:noFill/>
        <a:ln>
          <a:solidFill>
            <a:srgbClr val="92D050"/>
          </a:solidFill>
        </a:ln>
      </dgm:spPr>
      <dgm:t>
        <a:bodyPr/>
        <a:lstStyle/>
        <a:p>
          <a:r>
            <a:rPr lang="en-US"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rPr>
            <a:t>Collect</a:t>
          </a:r>
        </a:p>
      </dgm:t>
    </dgm:pt>
    <dgm:pt modelId="{F113628D-F3D5-492D-A5E3-4A52B389F687}" type="parTrans" cxnId="{FD82B9CF-9BFB-4141-9AE2-80D37487B60C}">
      <dgm:prSet/>
      <dgm:spPr/>
      <dgm:t>
        <a:bodyPr/>
        <a:lstStyle/>
        <a:p>
          <a:endParaRPr lang="en-US"/>
        </a:p>
      </dgm:t>
    </dgm:pt>
    <dgm:pt modelId="{F5449422-4BE2-4E09-BC94-E1883151C440}" type="sibTrans" cxnId="{FD82B9CF-9BFB-4141-9AE2-80D37487B60C}">
      <dgm:prSet/>
      <dgm:spPr/>
      <dgm:t>
        <a:bodyPr/>
        <a:lstStyle/>
        <a:p>
          <a:endParaRPr lang="en-US">
            <a:latin typeface="Hack Regular" panose="020B0609030202020204" pitchFamily="49" charset="0"/>
            <a:ea typeface="Hack Regular" panose="020B0609030202020204" pitchFamily="49" charset="0"/>
            <a:cs typeface="Hack Regular" panose="020B0609030202020204" pitchFamily="49" charset="0"/>
          </a:endParaRPr>
        </a:p>
      </dgm:t>
    </dgm:pt>
    <dgm:pt modelId="{F58E36B1-9016-49FF-8A88-1FDF8678AAB3}">
      <dgm:prSet phldrT="[Text]"/>
      <dgm:spPr>
        <a:noFill/>
        <a:ln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rPr>
            <a:t>Analyze</a:t>
          </a:r>
        </a:p>
      </dgm:t>
    </dgm:pt>
    <dgm:pt modelId="{F161CE12-0BB7-4601-B131-51D67FA48C2B}" type="parTrans" cxnId="{455085A2-5BB2-4C56-AE31-699F3DDC211E}">
      <dgm:prSet/>
      <dgm:spPr/>
      <dgm:t>
        <a:bodyPr/>
        <a:lstStyle/>
        <a:p>
          <a:endParaRPr lang="en-US"/>
        </a:p>
      </dgm:t>
    </dgm:pt>
    <dgm:pt modelId="{841EA3F7-1E1D-4A14-92ED-BC1E2B379CD7}" type="sibTrans" cxnId="{455085A2-5BB2-4C56-AE31-699F3DDC211E}">
      <dgm:prSet/>
      <dgm:spPr/>
      <dgm:t>
        <a:bodyPr/>
        <a:lstStyle/>
        <a:p>
          <a:endParaRPr lang="en-US"/>
        </a:p>
      </dgm:t>
    </dgm:pt>
    <dgm:pt modelId="{7D03E512-9FD4-4823-9333-DC11DBD1C3AA}" type="pres">
      <dgm:prSet presAssocID="{771368D2-1953-4B94-BCAA-1035077B5355}" presName="cycle" presStyleCnt="0">
        <dgm:presLayoutVars>
          <dgm:dir/>
          <dgm:resizeHandles val="exact"/>
        </dgm:presLayoutVars>
      </dgm:prSet>
      <dgm:spPr/>
    </dgm:pt>
    <dgm:pt modelId="{FB675774-BDD1-4430-BAE4-A0CD6884B2C9}" type="pres">
      <dgm:prSet presAssocID="{FBFBEA14-A4BC-4591-99CD-B4B0C56873AF}" presName="node" presStyleLbl="node1" presStyleIdx="0" presStyleCnt="3" custScaleX="71068" custScaleY="48799">
        <dgm:presLayoutVars>
          <dgm:bulletEnabled val="1"/>
        </dgm:presLayoutVars>
      </dgm:prSet>
      <dgm:spPr/>
    </dgm:pt>
    <dgm:pt modelId="{1A8A0202-A28A-47B4-BA00-4CCED0ED5F66}" type="pres">
      <dgm:prSet presAssocID="{9C56FBDE-182A-43E6-8141-4D30F468EB50}" presName="sibTrans" presStyleLbl="sibTrans2D1" presStyleIdx="0" presStyleCnt="3"/>
      <dgm:spPr/>
    </dgm:pt>
    <dgm:pt modelId="{9227D07F-FD98-49E0-B1CA-C0A7762966A5}" type="pres">
      <dgm:prSet presAssocID="{9C56FBDE-182A-43E6-8141-4D30F468EB50}" presName="connectorText" presStyleLbl="sibTrans2D1" presStyleIdx="0" presStyleCnt="3"/>
      <dgm:spPr/>
    </dgm:pt>
    <dgm:pt modelId="{090C5076-20CC-4A1A-8B02-07B33D32F4A3}" type="pres">
      <dgm:prSet presAssocID="{4D96F9CF-D1D0-4F3C-A031-CB0DDA57906F}" presName="node" presStyleLbl="node1" presStyleIdx="1" presStyleCnt="3" custScaleX="70163" custScaleY="49970">
        <dgm:presLayoutVars>
          <dgm:bulletEnabled val="1"/>
        </dgm:presLayoutVars>
      </dgm:prSet>
      <dgm:spPr/>
    </dgm:pt>
    <dgm:pt modelId="{29CA83C7-DFDE-40DA-A5A1-739226CAF770}" type="pres">
      <dgm:prSet presAssocID="{F5449422-4BE2-4E09-BC94-E1883151C440}" presName="sibTrans" presStyleLbl="sibTrans2D1" presStyleIdx="1" presStyleCnt="3"/>
      <dgm:spPr/>
    </dgm:pt>
    <dgm:pt modelId="{DF89E6CD-701A-425C-970D-6E0EFE6260CB}" type="pres">
      <dgm:prSet presAssocID="{F5449422-4BE2-4E09-BC94-E1883151C440}" presName="connectorText" presStyleLbl="sibTrans2D1" presStyleIdx="1" presStyleCnt="3"/>
      <dgm:spPr/>
    </dgm:pt>
    <dgm:pt modelId="{29198BC4-E66A-47F1-8CAF-2CE780F8E58C}" type="pres">
      <dgm:prSet presAssocID="{F58E36B1-9016-49FF-8A88-1FDF8678AAB3}" presName="node" presStyleLbl="node1" presStyleIdx="2" presStyleCnt="3" custScaleX="65951" custScaleY="47254">
        <dgm:presLayoutVars>
          <dgm:bulletEnabled val="1"/>
        </dgm:presLayoutVars>
      </dgm:prSet>
      <dgm:spPr/>
    </dgm:pt>
    <dgm:pt modelId="{084A4C75-4EED-4B1C-86F1-E81B3707A2FE}" type="pres">
      <dgm:prSet presAssocID="{841EA3F7-1E1D-4A14-92ED-BC1E2B379CD7}" presName="sibTrans" presStyleLbl="sibTrans2D1" presStyleIdx="2" presStyleCnt="3"/>
      <dgm:spPr/>
    </dgm:pt>
    <dgm:pt modelId="{099050A3-51A2-4AB1-961C-D55B047C48F8}" type="pres">
      <dgm:prSet presAssocID="{841EA3F7-1E1D-4A14-92ED-BC1E2B379CD7}" presName="connectorText" presStyleLbl="sibTrans2D1" presStyleIdx="2" presStyleCnt="3"/>
      <dgm:spPr/>
    </dgm:pt>
  </dgm:ptLst>
  <dgm:cxnLst>
    <dgm:cxn modelId="{66A79623-D83D-4AEE-AA00-B93B17AB81DB}" type="presOf" srcId="{F5449422-4BE2-4E09-BC94-E1883151C440}" destId="{DF89E6CD-701A-425C-970D-6E0EFE6260CB}" srcOrd="1" destOrd="0" presId="urn:microsoft.com/office/officeart/2005/8/layout/cycle2"/>
    <dgm:cxn modelId="{BA122C2A-1A0F-4BC2-987D-0E575322A8AC}" type="presOf" srcId="{FBFBEA14-A4BC-4591-99CD-B4B0C56873AF}" destId="{FB675774-BDD1-4430-BAE4-A0CD6884B2C9}" srcOrd="0" destOrd="0" presId="urn:microsoft.com/office/officeart/2005/8/layout/cycle2"/>
    <dgm:cxn modelId="{3FE3553B-8096-4032-AAE3-AA7F8934FC06}" type="presOf" srcId="{841EA3F7-1E1D-4A14-92ED-BC1E2B379CD7}" destId="{099050A3-51A2-4AB1-961C-D55B047C48F8}" srcOrd="1" destOrd="0" presId="urn:microsoft.com/office/officeart/2005/8/layout/cycle2"/>
    <dgm:cxn modelId="{31AFEC55-8586-4670-BD13-F6FE38FEC40A}" type="presOf" srcId="{9C56FBDE-182A-43E6-8141-4D30F468EB50}" destId="{1A8A0202-A28A-47B4-BA00-4CCED0ED5F66}" srcOrd="0" destOrd="0" presId="urn:microsoft.com/office/officeart/2005/8/layout/cycle2"/>
    <dgm:cxn modelId="{242AE757-9E6F-485D-82C1-BB6B19210B05}" type="presOf" srcId="{9C56FBDE-182A-43E6-8141-4D30F468EB50}" destId="{9227D07F-FD98-49E0-B1CA-C0A7762966A5}" srcOrd="1" destOrd="0" presId="urn:microsoft.com/office/officeart/2005/8/layout/cycle2"/>
    <dgm:cxn modelId="{BA8EDC9C-A6FD-4F0F-A5CF-5CAD618F251D}" type="presOf" srcId="{4D96F9CF-D1D0-4F3C-A031-CB0DDA57906F}" destId="{090C5076-20CC-4A1A-8B02-07B33D32F4A3}" srcOrd="0" destOrd="0" presId="urn:microsoft.com/office/officeart/2005/8/layout/cycle2"/>
    <dgm:cxn modelId="{455085A2-5BB2-4C56-AE31-699F3DDC211E}" srcId="{771368D2-1953-4B94-BCAA-1035077B5355}" destId="{F58E36B1-9016-49FF-8A88-1FDF8678AAB3}" srcOrd="2" destOrd="0" parTransId="{F161CE12-0BB7-4601-B131-51D67FA48C2B}" sibTransId="{841EA3F7-1E1D-4A14-92ED-BC1E2B379CD7}"/>
    <dgm:cxn modelId="{FD82B9CF-9BFB-4141-9AE2-80D37487B60C}" srcId="{771368D2-1953-4B94-BCAA-1035077B5355}" destId="{4D96F9CF-D1D0-4F3C-A031-CB0DDA57906F}" srcOrd="1" destOrd="0" parTransId="{F113628D-F3D5-492D-A5E3-4A52B389F687}" sibTransId="{F5449422-4BE2-4E09-BC94-E1883151C440}"/>
    <dgm:cxn modelId="{384B07D4-3D6B-4214-A0C7-1CCE94C285B3}" type="presOf" srcId="{771368D2-1953-4B94-BCAA-1035077B5355}" destId="{7D03E512-9FD4-4823-9333-DC11DBD1C3AA}" srcOrd="0" destOrd="0" presId="urn:microsoft.com/office/officeart/2005/8/layout/cycle2"/>
    <dgm:cxn modelId="{B0AD5CD7-C0B6-4B63-97FE-5B54FB2F2B68}" srcId="{771368D2-1953-4B94-BCAA-1035077B5355}" destId="{FBFBEA14-A4BC-4591-99CD-B4B0C56873AF}" srcOrd="0" destOrd="0" parTransId="{C83E4153-F2E5-4A22-972B-7F9C082FC99E}" sibTransId="{9C56FBDE-182A-43E6-8141-4D30F468EB50}"/>
    <dgm:cxn modelId="{FC0F6DD8-4043-4026-A41B-906AE741FB86}" type="presOf" srcId="{F5449422-4BE2-4E09-BC94-E1883151C440}" destId="{29CA83C7-DFDE-40DA-A5A1-739226CAF770}" srcOrd="0" destOrd="0" presId="urn:microsoft.com/office/officeart/2005/8/layout/cycle2"/>
    <dgm:cxn modelId="{A2ED36DC-9D9B-4993-81FC-FFD2A5B90D1C}" type="presOf" srcId="{841EA3F7-1E1D-4A14-92ED-BC1E2B379CD7}" destId="{084A4C75-4EED-4B1C-86F1-E81B3707A2FE}" srcOrd="0" destOrd="0" presId="urn:microsoft.com/office/officeart/2005/8/layout/cycle2"/>
    <dgm:cxn modelId="{4CDD25ED-FF15-44B0-9CB8-B21A44B8FCF5}" type="presOf" srcId="{F58E36B1-9016-49FF-8A88-1FDF8678AAB3}" destId="{29198BC4-E66A-47F1-8CAF-2CE780F8E58C}" srcOrd="0" destOrd="0" presId="urn:microsoft.com/office/officeart/2005/8/layout/cycle2"/>
    <dgm:cxn modelId="{AA6EB665-AB8A-4B6E-A662-23F5B7DA30F7}" type="presParOf" srcId="{7D03E512-9FD4-4823-9333-DC11DBD1C3AA}" destId="{FB675774-BDD1-4430-BAE4-A0CD6884B2C9}" srcOrd="0" destOrd="0" presId="urn:microsoft.com/office/officeart/2005/8/layout/cycle2"/>
    <dgm:cxn modelId="{55414D2A-F332-49D7-B10F-58A125AE405E}" type="presParOf" srcId="{7D03E512-9FD4-4823-9333-DC11DBD1C3AA}" destId="{1A8A0202-A28A-47B4-BA00-4CCED0ED5F66}" srcOrd="1" destOrd="0" presId="urn:microsoft.com/office/officeart/2005/8/layout/cycle2"/>
    <dgm:cxn modelId="{73763B1E-92AA-499D-87EE-7AEE60EFCA92}" type="presParOf" srcId="{1A8A0202-A28A-47B4-BA00-4CCED0ED5F66}" destId="{9227D07F-FD98-49E0-B1CA-C0A7762966A5}" srcOrd="0" destOrd="0" presId="urn:microsoft.com/office/officeart/2005/8/layout/cycle2"/>
    <dgm:cxn modelId="{88B9D662-EB63-427E-BEFC-17BAE9132890}" type="presParOf" srcId="{7D03E512-9FD4-4823-9333-DC11DBD1C3AA}" destId="{090C5076-20CC-4A1A-8B02-07B33D32F4A3}" srcOrd="2" destOrd="0" presId="urn:microsoft.com/office/officeart/2005/8/layout/cycle2"/>
    <dgm:cxn modelId="{C99FADCB-2B4B-4DFE-8247-7FFA303F2A49}" type="presParOf" srcId="{7D03E512-9FD4-4823-9333-DC11DBD1C3AA}" destId="{29CA83C7-DFDE-40DA-A5A1-739226CAF770}" srcOrd="3" destOrd="0" presId="urn:microsoft.com/office/officeart/2005/8/layout/cycle2"/>
    <dgm:cxn modelId="{231C2668-CF1A-483F-AB14-F84D0A593BB1}" type="presParOf" srcId="{29CA83C7-DFDE-40DA-A5A1-739226CAF770}" destId="{DF89E6CD-701A-425C-970D-6E0EFE6260CB}" srcOrd="0" destOrd="0" presId="urn:microsoft.com/office/officeart/2005/8/layout/cycle2"/>
    <dgm:cxn modelId="{8D58C012-5517-4D3D-A097-C702187085EF}" type="presParOf" srcId="{7D03E512-9FD4-4823-9333-DC11DBD1C3AA}" destId="{29198BC4-E66A-47F1-8CAF-2CE780F8E58C}" srcOrd="4" destOrd="0" presId="urn:microsoft.com/office/officeart/2005/8/layout/cycle2"/>
    <dgm:cxn modelId="{50BBF949-D392-444D-AC99-F2B54BAF6BF4}" type="presParOf" srcId="{7D03E512-9FD4-4823-9333-DC11DBD1C3AA}" destId="{084A4C75-4EED-4B1C-86F1-E81B3707A2FE}" srcOrd="5" destOrd="0" presId="urn:microsoft.com/office/officeart/2005/8/layout/cycle2"/>
    <dgm:cxn modelId="{42AE81D4-BA6E-487D-A1F6-7F21D9620F29}" type="presParOf" srcId="{084A4C75-4EED-4B1C-86F1-E81B3707A2FE}" destId="{099050A3-51A2-4AB1-961C-D55B047C48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75774-BDD1-4430-BAE4-A0CD6884B2C9}">
      <dsp:nvSpPr>
        <dsp:cNvPr id="0" name=""/>
        <dsp:cNvSpPr/>
      </dsp:nvSpPr>
      <dsp:spPr>
        <a:xfrm>
          <a:off x="1575717" y="541592"/>
          <a:ext cx="1008350" cy="692386"/>
        </a:xfrm>
        <a:prstGeom prst="ellipse">
          <a:avLst/>
        </a:prstGeom>
        <a:noFill/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rPr>
            <a:t>Discover</a:t>
          </a:r>
        </a:p>
      </dsp:txBody>
      <dsp:txXfrm>
        <a:off x="1723386" y="642990"/>
        <a:ext cx="713012" cy="489590"/>
      </dsp:txXfrm>
    </dsp:sp>
    <dsp:sp modelId="{1A8A0202-A28A-47B4-BA00-4CCED0ED5F66}">
      <dsp:nvSpPr>
        <dsp:cNvPr id="0" name=""/>
        <dsp:cNvSpPr/>
      </dsp:nvSpPr>
      <dsp:spPr>
        <a:xfrm rot="3600000">
          <a:off x="2234585" y="1550983"/>
          <a:ext cx="732879" cy="478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>
            <a:latin typeface="Hack Regular" panose="020B0609030202020204" pitchFamily="49" charset="0"/>
            <a:ea typeface="Hack Regular" panose="020B0609030202020204" pitchFamily="49" charset="0"/>
            <a:cs typeface="Hack Regular" panose="020B0609030202020204" pitchFamily="49" charset="0"/>
          </a:endParaRPr>
        </a:p>
      </dsp:txBody>
      <dsp:txXfrm>
        <a:off x="2270500" y="1584549"/>
        <a:ext cx="589220" cy="287318"/>
      </dsp:txXfrm>
    </dsp:sp>
    <dsp:sp modelId="{090C5076-20CC-4A1A-8B02-07B33D32F4A3}">
      <dsp:nvSpPr>
        <dsp:cNvPr id="0" name=""/>
        <dsp:cNvSpPr/>
      </dsp:nvSpPr>
      <dsp:spPr>
        <a:xfrm>
          <a:off x="2648632" y="2380508"/>
          <a:ext cx="995509" cy="709000"/>
        </a:xfrm>
        <a:prstGeom prst="ellipse">
          <a:avLst/>
        </a:prstGeom>
        <a:noFill/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rPr>
            <a:t>Collect</a:t>
          </a:r>
        </a:p>
      </dsp:txBody>
      <dsp:txXfrm>
        <a:off x="2794421" y="2484339"/>
        <a:ext cx="703931" cy="501338"/>
      </dsp:txXfrm>
    </dsp:sp>
    <dsp:sp modelId="{29CA83C7-DFDE-40DA-A5A1-739226CAF770}">
      <dsp:nvSpPr>
        <dsp:cNvPr id="0" name=""/>
        <dsp:cNvSpPr/>
      </dsp:nvSpPr>
      <dsp:spPr>
        <a:xfrm rot="10800000">
          <a:off x="1773111" y="2495577"/>
          <a:ext cx="618701" cy="478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>
            <a:latin typeface="Hack Regular" panose="020B0609030202020204" pitchFamily="49" charset="0"/>
            <a:ea typeface="Hack Regular" panose="020B0609030202020204" pitchFamily="49" charset="0"/>
            <a:cs typeface="Hack Regular" panose="020B0609030202020204" pitchFamily="49" charset="0"/>
          </a:endParaRPr>
        </a:p>
      </dsp:txBody>
      <dsp:txXfrm rot="10800000">
        <a:off x="1916770" y="2591349"/>
        <a:ext cx="475042" cy="287318"/>
      </dsp:txXfrm>
    </dsp:sp>
    <dsp:sp modelId="{29198BC4-E66A-47F1-8CAF-2CE780F8E58C}">
      <dsp:nvSpPr>
        <dsp:cNvPr id="0" name=""/>
        <dsp:cNvSpPr/>
      </dsp:nvSpPr>
      <dsp:spPr>
        <a:xfrm>
          <a:off x="545523" y="2399776"/>
          <a:ext cx="935747" cy="670464"/>
        </a:xfrm>
        <a:prstGeom prst="ellipse">
          <a:avLst/>
        </a:prstGeom>
        <a:noFill/>
        <a:ln w="25400" cap="flat" cmpd="sng" algn="ctr">
          <a:solidFill>
            <a:schemeClr val="accent5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rPr>
            <a:t>Analyze</a:t>
          </a:r>
        </a:p>
      </dsp:txBody>
      <dsp:txXfrm>
        <a:off x="682560" y="2497963"/>
        <a:ext cx="661673" cy="474090"/>
      </dsp:txXfrm>
    </dsp:sp>
    <dsp:sp modelId="{084A4C75-4EED-4B1C-86F1-E81B3707A2FE}">
      <dsp:nvSpPr>
        <dsp:cNvPr id="0" name=""/>
        <dsp:cNvSpPr/>
      </dsp:nvSpPr>
      <dsp:spPr>
        <a:xfrm rot="18000000">
          <a:off x="1160662" y="1596226"/>
          <a:ext cx="743951" cy="478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196577" y="1754204"/>
        <a:ext cx="600292" cy="287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484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802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686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10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13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vpc/latest/userguide/flow-logs-s3.ht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ws.amazon.com/awscloudtrail/latest/userguide/cloudtrail-create-a-trail-using-the-console-first-time.html" TargetMode="External"/><Relationship Id="rId5" Type="http://schemas.openxmlformats.org/officeDocument/2006/relationships/hyperlink" Target="https://docs.aws.amazon.com/AWSSimpleQueueService/latest/SQSDeveloperGuide/sqs-logging-using-cloudtrail.html" TargetMode="External"/><Relationship Id="rId4" Type="http://schemas.openxmlformats.org/officeDocument/2006/relationships/hyperlink" Target="https://docs.aws.amazon.com/AmazonS3/latest/dev/cloudtrail-logging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/>
        </p:nvSpPr>
        <p:spPr>
          <a:xfrm>
            <a:off x="450899" y="3737350"/>
            <a:ext cx="8242202" cy="53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defRPr sz="2400">
                <a:solidFill>
                  <a:srgbClr val="FF9900"/>
                </a:solidFill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t>Established</a:t>
            </a:r>
            <a:r>
              <a:rPr>
                <a:solidFill>
                  <a:srgbClr val="000000"/>
                </a:solidFill>
              </a:rPr>
              <a:t> in 17</a:t>
            </a:r>
            <a:r>
              <a:rPr baseline="30000">
                <a:solidFill>
                  <a:srgbClr val="000000"/>
                </a:solidFill>
              </a:rPr>
              <a:t>th</a:t>
            </a:r>
            <a:r>
              <a:rPr>
                <a:solidFill>
                  <a:srgbClr val="000000"/>
                </a:solidFill>
              </a:rPr>
              <a:t> November, 2018</a:t>
            </a:r>
          </a:p>
        </p:txBody>
      </p:sp>
      <p:sp>
        <p:nvSpPr>
          <p:cNvPr id="110" name="Google Shape;55;p13"/>
          <p:cNvSpPr txBox="1"/>
          <p:nvPr/>
        </p:nvSpPr>
        <p:spPr>
          <a:xfrm>
            <a:off x="1303724" y="4352950"/>
            <a:ext cx="7023601" cy="37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300">
                <a:solidFill>
                  <a:srgbClr val="FF9900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rPr dirty="0"/>
              <a:t>Logo Palace Gate represents the Gate of the Knowledges in Myanmar. </a:t>
            </a:r>
          </a:p>
        </p:txBody>
      </p:sp>
      <p:sp>
        <p:nvSpPr>
          <p:cNvPr id="11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pic>
        <p:nvPicPr>
          <p:cNvPr id="112" name="Google Shape;57;p13" descr="Google Shape;57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724" y="920400"/>
            <a:ext cx="3432547" cy="34325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62;p14"/>
          <p:cNvSpPr txBox="1"/>
          <p:nvPr/>
        </p:nvSpPr>
        <p:spPr>
          <a:xfrm>
            <a:off x="136399" y="2109124"/>
            <a:ext cx="7160102" cy="1661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48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Cloud Security and Logging</a:t>
            </a:r>
            <a:endParaRPr dirty="0"/>
          </a:p>
        </p:txBody>
      </p:sp>
      <p:sp>
        <p:nvSpPr>
          <p:cNvPr id="115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68;p15"/>
          <p:cNvSpPr txBox="1"/>
          <p:nvPr/>
        </p:nvSpPr>
        <p:spPr>
          <a:xfrm>
            <a:off x="136399" y="2109124"/>
            <a:ext cx="4948802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About Me</a:t>
            </a:r>
            <a:endParaRPr dirty="0"/>
          </a:p>
        </p:txBody>
      </p:sp>
      <p:sp>
        <p:nvSpPr>
          <p:cNvPr id="118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018EF7-1362-4520-8375-3A8B9DF063CC}"/>
              </a:ext>
            </a:extLst>
          </p:cNvPr>
          <p:cNvSpPr/>
          <p:nvPr/>
        </p:nvSpPr>
        <p:spPr>
          <a:xfrm>
            <a:off x="2875295" y="2040333"/>
            <a:ext cx="3329021" cy="1564368"/>
          </a:xfrm>
          <a:prstGeom prst="roundRect">
            <a:avLst/>
          </a:prstGeom>
          <a:solidFill>
            <a:srgbClr val="FF8D7A">
              <a:alpha val="0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Aung Myint Myat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Assoc. Security Engineer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Passionate about Technology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Hobby in </a:t>
            </a:r>
            <a:r>
              <a:rPr lang="en-US" dirty="0" err="1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Aquascaping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9" y="2109124"/>
            <a:ext cx="4948802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Cloud Security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Share Responsibility Model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pic>
        <p:nvPicPr>
          <p:cNvPr id="8" name="Picture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71D3DC05-DA13-4843-96D5-8975D03C1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66" y="1290083"/>
            <a:ext cx="8197192" cy="324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091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AWS Security Solutions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6D77606-F8D7-4F33-92ED-F825C30F7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03879"/>
              </p:ext>
            </p:extLst>
          </p:nvPr>
        </p:nvGraphicFramePr>
        <p:xfrm>
          <a:off x="921327" y="1668895"/>
          <a:ext cx="6096000" cy="26952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878713346"/>
                    </a:ext>
                  </a:extLst>
                </a:gridCol>
                <a:gridCol w="1212273">
                  <a:extLst>
                    <a:ext uri="{9D8B030D-6E8A-4147-A177-3AD203B41FA5}">
                      <a16:colId xmlns:a16="http://schemas.microsoft.com/office/drawing/2014/main" val="3732421436"/>
                    </a:ext>
                  </a:extLst>
                </a:gridCol>
                <a:gridCol w="1288473">
                  <a:extLst>
                    <a:ext uri="{9D8B030D-6E8A-4147-A177-3AD203B41FA5}">
                      <a16:colId xmlns:a16="http://schemas.microsoft.com/office/drawing/2014/main" val="2283417427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326020984"/>
                    </a:ext>
                  </a:extLst>
                </a:gridCol>
                <a:gridCol w="1032163">
                  <a:extLst>
                    <a:ext uri="{9D8B030D-6E8A-4147-A177-3AD203B41FA5}">
                      <a16:colId xmlns:a16="http://schemas.microsoft.com/office/drawing/2014/main" val="2103639579"/>
                    </a:ext>
                  </a:extLst>
                </a:gridCol>
              </a:tblGrid>
              <a:tr h="75552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Identity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Detective Controls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Infrastructure Protection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Data Protection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Compliance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145778"/>
                  </a:ext>
                </a:extLst>
              </a:tr>
              <a:tr h="193976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IAM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SSO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Amazon Cognito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Directory Service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sz="10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Resource Access Manager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Amazon Security Hub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Amazon </a:t>
                      </a:r>
                      <a:r>
                        <a:rPr lang="en-US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GuardDuty</a:t>
                      </a:r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Amazon Inspector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Amazon Detective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Shield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WAF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Firewall Manager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Amazon Macie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KMS</a:t>
                      </a: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CloudHSM</a:t>
                      </a:r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endParaRPr lang="en-US" sz="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Hack Regular" panose="020B0609030202020204" pitchFamily="49" charset="0"/>
                        <a:ea typeface="Hack Regular" panose="020B0609030202020204" pitchFamily="49" charset="0"/>
                        <a:cs typeface="Hack Regular" panose="020B0609030202020204" pitchFamily="49" charset="0"/>
                      </a:endParaRPr>
                    </a:p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Certificate Manager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Hack Regular" panose="020B0609030202020204" pitchFamily="49" charset="0"/>
                          <a:ea typeface="Hack Regular" panose="020B0609030202020204" pitchFamily="49" charset="0"/>
                          <a:cs typeface="Hack Regular" panose="020B0609030202020204" pitchFamily="49" charset="0"/>
                        </a:rPr>
                        <a:t>AWS Artifact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6707231"/>
                  </a:ext>
                </a:extLst>
              </a:tr>
            </a:tbl>
          </a:graphicData>
        </a:graphic>
      </p:graphicFrame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A600CA41-B943-453B-B516-06EF04B382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4691" y="1582105"/>
            <a:ext cx="457200" cy="457200"/>
          </a:xfrm>
          <a:prstGeom prst="rect">
            <a:avLst/>
          </a:prstGeom>
        </p:spPr>
      </p:pic>
      <p:pic>
        <p:nvPicPr>
          <p:cNvPr id="19" name="Picture 18" descr="A close up of a sign&#10;&#10;Description automatically generated">
            <a:extLst>
              <a:ext uri="{FF2B5EF4-FFF2-40B4-BE49-F238E27FC236}">
                <a16:creationId xmlns:a16="http://schemas.microsoft.com/office/drawing/2014/main" id="{6376AF2B-8CD7-47C2-8DD7-260138F726E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6" r="9426"/>
          <a:stretch/>
        </p:blipFill>
        <p:spPr>
          <a:xfrm>
            <a:off x="6192983" y="1577298"/>
            <a:ext cx="457200" cy="457200"/>
          </a:xfrm>
          <a:prstGeom prst="rect">
            <a:avLst/>
          </a:prstGeom>
        </p:spPr>
      </p:pic>
      <p:pic>
        <p:nvPicPr>
          <p:cNvPr id="21" name="Picture 20" descr="A picture containing cup, mug, pan&#10;&#10;Description automatically generated">
            <a:extLst>
              <a:ext uri="{FF2B5EF4-FFF2-40B4-BE49-F238E27FC236}">
                <a16:creationId xmlns:a16="http://schemas.microsoft.com/office/drawing/2014/main" id="{802CB488-C124-46BE-AD6F-F08FB5D061B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3" r="8513"/>
          <a:stretch/>
        </p:blipFill>
        <p:spPr>
          <a:xfrm>
            <a:off x="5181598" y="1577298"/>
            <a:ext cx="457200" cy="457200"/>
          </a:xfrm>
          <a:prstGeom prst="rect">
            <a:avLst/>
          </a:prstGeom>
        </p:spPr>
      </p:pic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ECEF5BA9-71C0-44EC-8DE9-2C3FDC192DA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2665930" y="1577298"/>
            <a:ext cx="457200" cy="457200"/>
          </a:xfrm>
          <a:prstGeom prst="rect">
            <a:avLst/>
          </a:prstGeom>
        </p:spPr>
      </p:pic>
      <p:pic>
        <p:nvPicPr>
          <p:cNvPr id="27" name="Picture 2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17CCEF8-8B94-4500-AC38-0C7AB0BC2CE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517" y="1577298"/>
            <a:ext cx="551584" cy="5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470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Fine Grained Access IAM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3" y="1641764"/>
            <a:ext cx="5500254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Users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- Federation, SAML, Management Policy</a:t>
            </a:r>
            <a:endParaRPr lang="en-US" sz="18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Groups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- Group Policy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1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Services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- Least privilege access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Roles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- For instances and function.</a:t>
            </a:r>
          </a:p>
        </p:txBody>
      </p:sp>
    </p:spTree>
    <p:extLst>
      <p:ext uri="{BB962C8B-B14F-4D97-AF65-F5344CB8AC3E}">
        <p14:creationId xmlns:p14="http://schemas.microsoft.com/office/powerpoint/2010/main" val="11089190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Organization SCP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71EBDF-D4B3-48A5-B792-9FF01FD47C60}"/>
              </a:ext>
            </a:extLst>
          </p:cNvPr>
          <p:cNvSpPr/>
          <p:nvPr/>
        </p:nvSpPr>
        <p:spPr>
          <a:xfrm>
            <a:off x="1077191" y="1662545"/>
            <a:ext cx="6674427" cy="2743200"/>
          </a:xfrm>
          <a:prstGeom prst="roundRect">
            <a:avLst/>
          </a:prstGeom>
          <a:solidFill>
            <a:srgbClr val="FFFFFF">
              <a:alpha val="6000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2E9AC8-84EF-4989-B04A-4FC3A3AEACE2}"/>
              </a:ext>
            </a:extLst>
          </p:cNvPr>
          <p:cNvSpPr/>
          <p:nvPr/>
        </p:nvSpPr>
        <p:spPr>
          <a:xfrm>
            <a:off x="3792681" y="3111040"/>
            <a:ext cx="1233055" cy="817418"/>
          </a:xfrm>
          <a:prstGeom prst="roundRect">
            <a:avLst/>
          </a:prstGeom>
          <a:solidFill>
            <a:srgbClr val="FFFFFF">
              <a:alpha val="36000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Resources Accounts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EB748D-8ABF-45A5-96B5-F24C12D22A81}"/>
              </a:ext>
            </a:extLst>
          </p:cNvPr>
          <p:cNvSpPr/>
          <p:nvPr/>
        </p:nvSpPr>
        <p:spPr>
          <a:xfrm>
            <a:off x="1714064" y="3107229"/>
            <a:ext cx="1233055" cy="817418"/>
          </a:xfrm>
          <a:prstGeom prst="roundRect">
            <a:avLst/>
          </a:prstGeom>
          <a:solidFill>
            <a:srgbClr val="FFFFFF">
              <a:alpha val="36000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dirty="0"/>
              <a:t>Organizational Accounts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E9935E-2943-4962-B265-2E8BB177CC2F}"/>
              </a:ext>
            </a:extLst>
          </p:cNvPr>
          <p:cNvSpPr/>
          <p:nvPr/>
        </p:nvSpPr>
        <p:spPr>
          <a:xfrm>
            <a:off x="5871298" y="3107229"/>
            <a:ext cx="1233055" cy="817418"/>
          </a:xfrm>
          <a:prstGeom prst="roundRect">
            <a:avLst/>
          </a:prstGeom>
          <a:solidFill>
            <a:srgbClr val="FFFFFF">
              <a:alpha val="36000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dirty="0"/>
              <a:t>Developer Accounts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6E3300-B140-4907-AFF0-FD534244FD2A}"/>
              </a:ext>
            </a:extLst>
          </p:cNvPr>
          <p:cNvSpPr/>
          <p:nvPr/>
        </p:nvSpPr>
        <p:spPr>
          <a:xfrm>
            <a:off x="1714064" y="2026631"/>
            <a:ext cx="5390289" cy="446919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Organization Master Account</a:t>
            </a: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044F9499-0BAC-4480-B5F1-C06A06BEA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948" y="1841990"/>
            <a:ext cx="596818" cy="369281"/>
          </a:xfrm>
          <a:prstGeom prst="rect">
            <a:avLst/>
          </a:prstGeom>
        </p:spPr>
      </p:pic>
      <p:pic>
        <p:nvPicPr>
          <p:cNvPr id="20" name="Picture 19" descr="A picture containing drawing&#10;&#10;Description automatically generated">
            <a:extLst>
              <a:ext uri="{FF2B5EF4-FFF2-40B4-BE49-F238E27FC236}">
                <a16:creationId xmlns:a16="http://schemas.microsoft.com/office/drawing/2014/main" id="{95EA8B83-9EF5-4A1D-97B4-F142897A45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08" y="2967976"/>
            <a:ext cx="390478" cy="241608"/>
          </a:xfrm>
          <a:prstGeom prst="rect">
            <a:avLst/>
          </a:prstGeom>
        </p:spPr>
      </p:pic>
      <p:pic>
        <p:nvPicPr>
          <p:cNvPr id="22" name="Picture 2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BC256C6-1BB8-442D-82A3-DCC426031F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853" y="2967976"/>
            <a:ext cx="390478" cy="241608"/>
          </a:xfrm>
          <a:prstGeom prst="rect">
            <a:avLst/>
          </a:prstGeom>
        </p:spPr>
      </p:pic>
      <p:pic>
        <p:nvPicPr>
          <p:cNvPr id="24" name="Picture 23" descr="A picture containing drawing&#10;&#10;Description automatically generated">
            <a:extLst>
              <a:ext uri="{FF2B5EF4-FFF2-40B4-BE49-F238E27FC236}">
                <a16:creationId xmlns:a16="http://schemas.microsoft.com/office/drawing/2014/main" id="{F9CDFA6B-4FB0-4934-91C7-9C637A6A01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470" y="2988647"/>
            <a:ext cx="390478" cy="24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155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Protecting Credentials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3" y="1641764"/>
            <a:ext cx="5500254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Least privilege user access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MFA on the root account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Password Policy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No </a:t>
            </a: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API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 keys </a:t>
            </a: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in source control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Temporary credentials via STS</a:t>
            </a:r>
          </a:p>
        </p:txBody>
      </p:sp>
    </p:spTree>
    <p:extLst>
      <p:ext uri="{BB962C8B-B14F-4D97-AF65-F5344CB8AC3E}">
        <p14:creationId xmlns:p14="http://schemas.microsoft.com/office/powerpoint/2010/main" val="672693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9" y="2109124"/>
            <a:ext cx="6409874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Security at all Layers</a:t>
            </a:r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</p:spTree>
    <p:extLst>
      <p:ext uri="{BB962C8B-B14F-4D97-AF65-F5344CB8AC3E}">
        <p14:creationId xmlns:p14="http://schemas.microsoft.com/office/powerpoint/2010/main" val="31348519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Physical Layer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3" y="1641764"/>
            <a:ext cx="5500254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lvl="2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AWS manage the physical security.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It is security </a:t>
            </a:r>
            <a:r>
              <a:rPr lang="en-US" sz="2000" b="1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of</a:t>
            </a: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the cloud.</a:t>
            </a:r>
          </a:p>
        </p:txBody>
      </p:sp>
    </p:spTree>
    <p:extLst>
      <p:ext uri="{BB962C8B-B14F-4D97-AF65-F5344CB8AC3E}">
        <p14:creationId xmlns:p14="http://schemas.microsoft.com/office/powerpoint/2010/main" val="167284873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Network Layer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2" y="1641764"/>
            <a:ext cx="6982061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lvl="2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VPN related</a:t>
            </a:r>
          </a:p>
          <a:p>
            <a:pPr marL="342900" lvl="2" indent="-225425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Subnets, route tables, NACL, security groups</a:t>
            </a:r>
          </a:p>
          <a:p>
            <a:pPr marL="342900" lvl="2" indent="-342900">
              <a:buFontTx/>
              <a:buChar char="-"/>
            </a:pP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lvl="2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Limit the public subnet</a:t>
            </a:r>
          </a:p>
          <a:p>
            <a:pPr marL="342900" lvl="2" indent="-225425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Load Balancers, Bastion Hosts</a:t>
            </a:r>
          </a:p>
          <a:p>
            <a:pPr marL="342900" lvl="2" indent="-342900">
              <a:buFontTx/>
              <a:buChar char="-"/>
            </a:pP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lvl="2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External Connectivity for management</a:t>
            </a:r>
          </a:p>
          <a:p>
            <a:pPr marL="339725" lvl="2" indent="-222250"/>
            <a:r>
              <a:rPr lang="en-US" sz="18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- VPN Gateway or Direct Connect</a:t>
            </a: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9071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System Layer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3" y="1641764"/>
            <a:ext cx="5500254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OS based firewalls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Remove unused packages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Remove direct access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Patch Management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Amazon Inspector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Golden Images</a:t>
            </a:r>
          </a:p>
        </p:txBody>
      </p:sp>
      <p:pic>
        <p:nvPicPr>
          <p:cNvPr id="3" name="Picture 2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1CA538BC-5A42-4B91-AEF5-833541EC6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598" y="2433205"/>
            <a:ext cx="2279139" cy="1835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09E627-645E-4636-8846-F5D6D8FAFE3B}"/>
              </a:ext>
            </a:extLst>
          </p:cNvPr>
          <p:cNvSpPr txBox="1"/>
          <p:nvPr/>
        </p:nvSpPr>
        <p:spPr>
          <a:xfrm>
            <a:off x="6005944" y="4268932"/>
            <a:ext cx="1717963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Amazon Inspector</a:t>
            </a:r>
          </a:p>
        </p:txBody>
      </p:sp>
    </p:spTree>
    <p:extLst>
      <p:ext uri="{BB962C8B-B14F-4D97-AF65-F5344CB8AC3E}">
        <p14:creationId xmlns:p14="http://schemas.microsoft.com/office/powerpoint/2010/main" val="34593901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Data Layer</a:t>
            </a:r>
            <a:endParaRPr dirty="0"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48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rPr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2" y="1641764"/>
            <a:ext cx="6033655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User Authentication</a:t>
            </a:r>
          </a:p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Access Control</a:t>
            </a:r>
          </a:p>
          <a:p>
            <a:pPr marL="228600" lvl="2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Encryption</a:t>
            </a:r>
            <a:endParaRPr lang="en-US" sz="18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lvl="2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- Data In-Transit </a:t>
            </a:r>
            <a:r>
              <a:rPr lang="en-US" dirty="0">
                <a:solidFill>
                  <a:srgbClr val="FFC000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(SSL/TLS, VPN/IPSEC, </a:t>
            </a:r>
            <a:r>
              <a:rPr lang="en-US" dirty="0" err="1">
                <a:solidFill>
                  <a:srgbClr val="FFC000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ssh</a:t>
            </a:r>
            <a:r>
              <a:rPr lang="en-US" dirty="0">
                <a:solidFill>
                  <a:srgbClr val="FFC000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)</a:t>
            </a:r>
            <a:endParaRPr lang="en-US" sz="1800" dirty="0">
              <a:solidFill>
                <a:srgbClr val="FFC000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lvl="2"/>
            <a:r>
              <a:rPr lang="en-US" sz="18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- Data At-Rest </a:t>
            </a:r>
            <a:r>
              <a:rPr lang="en-US" dirty="0">
                <a:solidFill>
                  <a:srgbClr val="FFC000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(KMS, SSE-C)</a:t>
            </a:r>
            <a:endParaRPr lang="en-US" sz="1800" dirty="0">
              <a:solidFill>
                <a:srgbClr val="FFC000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D83A669-C29A-49AA-B210-4B3201321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765" y="316872"/>
            <a:ext cx="1177936" cy="1177936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B4FFCDBB-222C-42A8-8401-71D36DD89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039" y="2973532"/>
            <a:ext cx="1058141" cy="1058141"/>
          </a:xfrm>
          <a:prstGeom prst="rect">
            <a:avLst/>
          </a:prstGeom>
        </p:spPr>
      </p:pic>
      <p:pic>
        <p:nvPicPr>
          <p:cNvPr id="11" name="Picture 10" descr="A picture containing umbrella, drawing&#10;&#10;Description automatically generated">
            <a:extLst>
              <a:ext uri="{FF2B5EF4-FFF2-40B4-BE49-F238E27FC236}">
                <a16:creationId xmlns:a16="http://schemas.microsoft.com/office/drawing/2014/main" id="{72652907-9532-42A2-ACE7-A7AB33F43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411" y="1065139"/>
            <a:ext cx="812664" cy="9701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637B9D-BF19-4D87-AEEF-2FCC89EEC98F}"/>
              </a:ext>
            </a:extLst>
          </p:cNvPr>
          <p:cNvSpPr txBox="1"/>
          <p:nvPr/>
        </p:nvSpPr>
        <p:spPr>
          <a:xfrm>
            <a:off x="7752192" y="1593229"/>
            <a:ext cx="89361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CloudHSM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3F34D8-E118-443D-B01D-DDB08365C921}"/>
              </a:ext>
            </a:extLst>
          </p:cNvPr>
          <p:cNvSpPr txBox="1"/>
          <p:nvPr/>
        </p:nvSpPr>
        <p:spPr>
          <a:xfrm>
            <a:off x="5781585" y="2131820"/>
            <a:ext cx="93431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KMS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9B2FD3-2C6F-489A-8B15-C4F5C0345B5F}"/>
              </a:ext>
            </a:extLst>
          </p:cNvPr>
          <p:cNvSpPr txBox="1"/>
          <p:nvPr/>
        </p:nvSpPr>
        <p:spPr>
          <a:xfrm>
            <a:off x="7527765" y="4001463"/>
            <a:ext cx="1262483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AWS Certificate Manager</a:t>
            </a:r>
          </a:p>
        </p:txBody>
      </p:sp>
    </p:spTree>
    <p:extLst>
      <p:ext uri="{BB962C8B-B14F-4D97-AF65-F5344CB8AC3E}">
        <p14:creationId xmlns:p14="http://schemas.microsoft.com/office/powerpoint/2010/main" val="199385419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9" y="2109124"/>
            <a:ext cx="6409874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Enable Traceability</a:t>
            </a:r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</p:spTree>
    <p:extLst>
      <p:ext uri="{BB962C8B-B14F-4D97-AF65-F5344CB8AC3E}">
        <p14:creationId xmlns:p14="http://schemas.microsoft.com/office/powerpoint/2010/main" val="381460528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Detective Controls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F04BD-991C-4BBB-80D1-36FC315AB23F}"/>
              </a:ext>
            </a:extLst>
          </p:cNvPr>
          <p:cNvSpPr txBox="1"/>
          <p:nvPr/>
        </p:nvSpPr>
        <p:spPr>
          <a:xfrm>
            <a:off x="907473" y="1641764"/>
            <a:ext cx="5500254" cy="275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Integrate auditing controls</a:t>
            </a:r>
          </a:p>
          <a:p>
            <a:pPr marL="228600" lvl="2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Capture and analyze logs (Logging)</a:t>
            </a:r>
          </a:p>
          <a:p>
            <a:pPr marL="457200" lvl="3"/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	</a:t>
            </a:r>
          </a:p>
          <a:p>
            <a:pPr marL="228600" lvl="3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57743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Cloud Logging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0CF2A-19A6-4DB8-AD68-0AE8C3F37AEB}"/>
              </a:ext>
            </a:extLst>
          </p:cNvPr>
          <p:cNvSpPr txBox="1"/>
          <p:nvPr/>
        </p:nvSpPr>
        <p:spPr>
          <a:xfrm>
            <a:off x="921488" y="1637414"/>
            <a:ext cx="4890494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What is Cloud Logging?</a:t>
            </a:r>
          </a:p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000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Identifying and collecting data sources in the cloud that are </a:t>
            </a:r>
            <a:r>
              <a:rPr lang="en-US" sz="2000" b="1" dirty="0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worthy of analysis</a:t>
            </a:r>
            <a:r>
              <a:rPr lang="en-US" sz="200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.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242E77-8E88-4F70-BE9B-00C76340C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964" y="3080531"/>
            <a:ext cx="2249061" cy="180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7881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Logging Process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432C01-C590-430F-B783-EC72E8555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4836373"/>
              </p:ext>
            </p:extLst>
          </p:nvPr>
        </p:nvGraphicFramePr>
        <p:xfrm>
          <a:off x="1324841" y="1032767"/>
          <a:ext cx="3948113" cy="32678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loud 6">
            <a:extLst>
              <a:ext uri="{FF2B5EF4-FFF2-40B4-BE49-F238E27FC236}">
                <a16:creationId xmlns:a16="http://schemas.microsoft.com/office/drawing/2014/main" id="{655BD746-3EC9-41DC-9EAC-4FDF6573A472}"/>
              </a:ext>
            </a:extLst>
          </p:cNvPr>
          <p:cNvSpPr/>
          <p:nvPr/>
        </p:nvSpPr>
        <p:spPr>
          <a:xfrm>
            <a:off x="3789218" y="1233054"/>
            <a:ext cx="2237510" cy="480882"/>
          </a:xfrm>
          <a:prstGeom prst="cloud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What data sources?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D010165D-B995-4E99-8069-828CBB8859C8}"/>
              </a:ext>
            </a:extLst>
          </p:cNvPr>
          <p:cNvSpPr/>
          <p:nvPr/>
        </p:nvSpPr>
        <p:spPr>
          <a:xfrm>
            <a:off x="4907973" y="3946681"/>
            <a:ext cx="2237510" cy="480882"/>
          </a:xfrm>
          <a:prstGeom prst="cloud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How to collect?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2272CD69-FEAC-4C4D-975C-C15D9653DA17}"/>
              </a:ext>
            </a:extLst>
          </p:cNvPr>
          <p:cNvSpPr/>
          <p:nvPr/>
        </p:nvSpPr>
        <p:spPr>
          <a:xfrm>
            <a:off x="136398" y="2969936"/>
            <a:ext cx="2237510" cy="480882"/>
          </a:xfrm>
          <a:prstGeom prst="cloud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What </a:t>
            </a:r>
            <a:r>
              <a:rPr lang="en-US" sz="1050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is the value?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407475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Discover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F84A9-D3D0-45EC-825E-4E4CC038E42E}"/>
              </a:ext>
            </a:extLst>
          </p:cNvPr>
          <p:cNvSpPr txBox="1"/>
          <p:nvPr/>
        </p:nvSpPr>
        <p:spPr>
          <a:xfrm>
            <a:off x="914400" y="1655618"/>
            <a:ext cx="5472545" cy="2736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Identify and locate the log sources.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Document the log sources in our AWS environments.</a:t>
            </a:r>
            <a:b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</a:b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rgbClr val="FFFF00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Log Sources </a:t>
            </a:r>
            <a:r>
              <a:rPr lang="en-US" dirty="0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: 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AWS infra logs – CloudTrail logs, VPC Flow Logs,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AWS service logs – S3, Load Balancers, CloudFront, Lambda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Host Based logs – Security, Application logs, </a:t>
            </a:r>
            <a:r>
              <a:rPr lang="en-US" dirty="0" err="1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Syslogs</a:t>
            </a:r>
            <a:r>
              <a:rPr lang="en-US" dirty="0">
                <a:solidFill>
                  <a:schemeClr val="accent6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, Performance Monitoring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chemeClr val="accent6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0540981B-0591-443D-AF33-69A8795C8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29" y="3130402"/>
            <a:ext cx="28575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9891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Collect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4B979-CE43-4C92-820E-13231933C410}"/>
              </a:ext>
            </a:extLst>
          </p:cNvPr>
          <p:cNvSpPr txBox="1"/>
          <p:nvPr/>
        </p:nvSpPr>
        <p:spPr>
          <a:xfrm>
            <a:off x="907312" y="1651591"/>
            <a:ext cx="4593265" cy="2743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Different types of log collections.</a:t>
            </a: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- Some needs to install agents.</a:t>
            </a: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- Some have central logging frameworks.</a:t>
            </a:r>
          </a:p>
          <a:p>
            <a:pPr marL="339725" marR="0" indent="-339725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- Container logging with Amazon Log Driver or Sidecar monitoring container.</a:t>
            </a: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Ingesting into Event Management Platforms. </a:t>
            </a: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For example: Elastic Stack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5C03531-CB5E-4A0B-B4BC-8121919663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366" y="666535"/>
            <a:ext cx="513941" cy="670737"/>
          </a:xfrm>
          <a:prstGeom prst="rect">
            <a:avLst/>
          </a:prstGeom>
        </p:spPr>
      </p:pic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12FDDF-63EE-4CC9-80E5-6DAA86E3B0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95" y="3517038"/>
            <a:ext cx="607195" cy="670738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3CAB27EC-25A9-4385-800A-73D8EB54BD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543" y="2090732"/>
            <a:ext cx="1459501" cy="932459"/>
          </a:xfrm>
          <a:prstGeom prst="rect">
            <a:avLst/>
          </a:prstGeom>
        </p:spPr>
      </p:pic>
      <p:pic>
        <p:nvPicPr>
          <p:cNvPr id="10" name="Picture 9" descr="A picture containing box, table, clock, brick&#10;&#10;Description automatically generated">
            <a:extLst>
              <a:ext uri="{FF2B5EF4-FFF2-40B4-BE49-F238E27FC236}">
                <a16:creationId xmlns:a16="http://schemas.microsoft.com/office/drawing/2014/main" id="{FE721EAE-1440-4E4D-B7BD-A3C359A49A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706" y="985148"/>
            <a:ext cx="981299" cy="1188189"/>
          </a:xfrm>
          <a:prstGeom prst="rect">
            <a:avLst/>
          </a:prstGeom>
        </p:spPr>
      </p:pic>
      <p:pic>
        <p:nvPicPr>
          <p:cNvPr id="12" name="Picture 11" descr="A picture containing table, stool, drawing, room&#10;&#10;Description automatically generated">
            <a:extLst>
              <a:ext uri="{FF2B5EF4-FFF2-40B4-BE49-F238E27FC236}">
                <a16:creationId xmlns:a16="http://schemas.microsoft.com/office/drawing/2014/main" id="{5AFCA766-DD51-4022-9B9C-856D078360F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015" y="2816740"/>
            <a:ext cx="775695" cy="80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689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Analyze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C444D-024D-4F5E-A880-81FC919376D3}"/>
              </a:ext>
            </a:extLst>
          </p:cNvPr>
          <p:cNvSpPr txBox="1"/>
          <p:nvPr/>
        </p:nvSpPr>
        <p:spPr>
          <a:xfrm>
            <a:off x="921488" y="1651591"/>
            <a:ext cx="5486400" cy="2757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Point of the collection is to do something with it.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We must 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analyze the data with the help of event management platforms.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Some ideas to do analysis on collected logs.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Too many failed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or successful log ins.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Impossible geolocations difference.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Sensitive data where it doesn’t belong.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Unauthorized logins.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Change of accounts, groups and policies.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Large amount of file accessed.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Standard user behavior and application analytics.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8C48DC24-6CF4-4407-96E7-D30517E0C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916" y="3030279"/>
            <a:ext cx="1749223" cy="58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2749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Case Study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0CF2A-19A6-4DB8-AD68-0AE8C3F37AEB}"/>
              </a:ext>
            </a:extLst>
          </p:cNvPr>
          <p:cNvSpPr txBox="1"/>
          <p:nvPr/>
        </p:nvSpPr>
        <p:spPr>
          <a:xfrm>
            <a:off x="921488" y="1637414"/>
            <a:ext cx="5472224" cy="24314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800" b="1" dirty="0">
                <a:solidFill>
                  <a:schemeClr val="bg1"/>
                </a:solidFill>
                <a:latin typeface="Hack Bold"/>
                <a:ea typeface="Hack Regular" panose="020B0609030202020204" pitchFamily="49" charset="0"/>
                <a:cs typeface="Hack Regular" panose="020B0609030202020204" pitchFamily="49" charset="0"/>
              </a:rPr>
              <a:t>Capital One Breach </a:t>
            </a:r>
            <a:r>
              <a:rPr lang="en-US" dirty="0">
                <a:solidFill>
                  <a:schemeClr val="bg1"/>
                </a:solidFill>
                <a:latin typeface="Hack Bold"/>
                <a:ea typeface="Hack Regular" panose="020B0609030202020204" pitchFamily="49" charset="0"/>
                <a:cs typeface="Hack Regular" panose="020B0609030202020204" pitchFamily="49" charset="0"/>
              </a:rPr>
              <a:t>(Between March &amp; July 2019)</a:t>
            </a:r>
            <a:br>
              <a:rPr lang="en-US" dirty="0">
                <a:solidFill>
                  <a:schemeClr val="bg1"/>
                </a:solidFill>
                <a:latin typeface="Hack Bold"/>
                <a:ea typeface="Hack Regular" panose="020B0609030202020204" pitchFamily="49" charset="0"/>
                <a:cs typeface="Hack Regular" panose="020B0609030202020204" pitchFamily="49" charset="0"/>
              </a:rPr>
            </a:br>
            <a:endParaRPr lang="en-US" dirty="0">
              <a:solidFill>
                <a:schemeClr val="bg1"/>
              </a:solidFill>
              <a:latin typeface="Hack Bold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The unauthorized user accessed data stored in S3 belonging to Capital One. 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He exfiltrated data and stored in </a:t>
            </a:r>
            <a:r>
              <a:rPr lang="en-US" dirty="0" err="1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g</a:t>
            </a:r>
            <a:r>
              <a:rPr kumimoji="0" lang="en-US" sz="140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ithub</a:t>
            </a: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 under name, Paige Thompson.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He boasted about the data theft 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online.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4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Some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one outside of the Capital One noticed the data theft and notify the responsible disclosure email address at Capital One.</a:t>
            </a:r>
            <a:endParaRPr kumimoji="0" lang="en-US" sz="14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912928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CBB5A7-A72E-41E9-8E3E-2355793B8C16}"/>
              </a:ext>
            </a:extLst>
          </p:cNvPr>
          <p:cNvSpPr/>
          <p:nvPr/>
        </p:nvSpPr>
        <p:spPr>
          <a:xfrm>
            <a:off x="878958" y="1474381"/>
            <a:ext cx="5528930" cy="1580707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Technical Details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CC0320-3863-4B42-AB56-9BD3448CE7B2}"/>
              </a:ext>
            </a:extLst>
          </p:cNvPr>
          <p:cNvSpPr/>
          <p:nvPr/>
        </p:nvSpPr>
        <p:spPr>
          <a:xfrm>
            <a:off x="4862623" y="1677066"/>
            <a:ext cx="1427341" cy="898894"/>
          </a:xfrm>
          <a:prstGeom prst="roundRect">
            <a:avLst/>
          </a:prstGeom>
          <a:solidFill>
            <a:srgbClr val="FF9683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S3 Bucket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F864C-BC40-41FE-B7F7-498C90D16285}"/>
              </a:ext>
            </a:extLst>
          </p:cNvPr>
          <p:cNvSpPr txBox="1"/>
          <p:nvPr/>
        </p:nvSpPr>
        <p:spPr>
          <a:xfrm>
            <a:off x="3899490" y="1938946"/>
            <a:ext cx="864781" cy="1384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Service Role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ABBB23-987B-4A67-8CB2-EB57121E62DA}"/>
              </a:ext>
            </a:extLst>
          </p:cNvPr>
          <p:cNvGrpSpPr/>
          <p:nvPr/>
        </p:nvGrpSpPr>
        <p:grpSpPr>
          <a:xfrm>
            <a:off x="992370" y="1672856"/>
            <a:ext cx="2736112" cy="898894"/>
            <a:chOff x="921490" y="1672856"/>
            <a:chExt cx="2736112" cy="8988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253DF5B-8CBF-46B2-AEBB-94E77DECB5C7}"/>
                </a:ext>
              </a:extLst>
            </p:cNvPr>
            <p:cNvSpPr/>
            <p:nvPr/>
          </p:nvSpPr>
          <p:spPr>
            <a:xfrm>
              <a:off x="921490" y="1672856"/>
              <a:ext cx="2736112" cy="898894"/>
            </a:xfrm>
            <a:prstGeom prst="roundRect">
              <a:avLst/>
            </a:prstGeom>
            <a:solidFill>
              <a:srgbClr val="FF9683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rPr>
                <a:t>EC2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84790A7-3559-44CA-8E56-CB7876E419AE}"/>
                </a:ext>
              </a:extLst>
            </p:cNvPr>
            <p:cNvSpPr/>
            <p:nvPr/>
          </p:nvSpPr>
          <p:spPr>
            <a:xfrm>
              <a:off x="1049085" y="1942217"/>
              <a:ext cx="1254642" cy="396946"/>
            </a:xfrm>
            <a:prstGeom prst="roundRect">
              <a:avLst/>
            </a:prstGeom>
            <a:solidFill>
              <a:srgbClr val="8627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rPr>
                <a:t>Metadata Service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DF952C0-5AC1-4B28-80CF-A581FF4A2182}"/>
                </a:ext>
              </a:extLst>
            </p:cNvPr>
            <p:cNvSpPr/>
            <p:nvPr/>
          </p:nvSpPr>
          <p:spPr>
            <a:xfrm>
              <a:off x="2508400" y="1942216"/>
              <a:ext cx="987055" cy="396946"/>
            </a:xfrm>
            <a:prstGeom prst="roundRect">
              <a:avLst/>
            </a:prstGeom>
            <a:solidFill>
              <a:srgbClr val="8627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rPr>
                <a:t>Web Server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DD26646-BC03-4E30-A4F7-2F9B434B43A9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 flipV="1">
              <a:off x="2303727" y="2140689"/>
              <a:ext cx="204673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023934-0FB7-4E36-8DAB-2B641B9BB6CC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3728482" y="2122303"/>
            <a:ext cx="1134141" cy="42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D5A927-DD4A-4F11-A6DA-8A557000E62A}"/>
              </a:ext>
            </a:extLst>
          </p:cNvPr>
          <p:cNvSpPr txBox="1"/>
          <p:nvPr/>
        </p:nvSpPr>
        <p:spPr>
          <a:xfrm>
            <a:off x="992370" y="2801740"/>
            <a:ext cx="251637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AWS Infrastructure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131A81-4448-4308-B9EF-A5B2AB0BE876}"/>
              </a:ext>
            </a:extLst>
          </p:cNvPr>
          <p:cNvSpPr/>
          <p:nvPr/>
        </p:nvSpPr>
        <p:spPr>
          <a:xfrm>
            <a:off x="3679752" y="3703010"/>
            <a:ext cx="1530203" cy="449447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Attacker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Arial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8AEA0E-9F6D-4E48-803A-A67C45276249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3072808" y="2339162"/>
            <a:ext cx="1208570" cy="1363848"/>
          </a:xfrm>
          <a:prstGeom prst="straightConnector1">
            <a:avLst/>
          </a:prstGeom>
          <a:noFill/>
          <a:ln w="25400" cap="flat">
            <a:solidFill>
              <a:srgbClr val="00B050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7F40DA-E04E-4AF8-8D07-E2EAAE9B7C8C}"/>
              </a:ext>
            </a:extLst>
          </p:cNvPr>
          <p:cNvCxnSpPr>
            <a:cxnSpLocks/>
          </p:cNvCxnSpPr>
          <p:nvPr/>
        </p:nvCxnSpPr>
        <p:spPr>
          <a:xfrm flipV="1">
            <a:off x="4642885" y="2575960"/>
            <a:ext cx="942772" cy="1127050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4AB720AD-1BB2-47ED-AA3C-84999E5C8208}"/>
              </a:ext>
            </a:extLst>
          </p:cNvPr>
          <p:cNvSpPr/>
          <p:nvPr/>
        </p:nvSpPr>
        <p:spPr>
          <a:xfrm>
            <a:off x="4862623" y="3161525"/>
            <a:ext cx="262271" cy="262270"/>
          </a:xfrm>
          <a:prstGeom prst="mathMultiply">
            <a:avLst/>
          </a:prstGeom>
          <a:solidFill>
            <a:srgbClr val="FFFFFF"/>
          </a:solidFill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5C23FA-F248-4620-916E-60942390A7F4}"/>
              </a:ext>
            </a:extLst>
          </p:cNvPr>
          <p:cNvSpPr txBox="1"/>
          <p:nvPr/>
        </p:nvSpPr>
        <p:spPr>
          <a:xfrm>
            <a:off x="2856612" y="3220205"/>
            <a:ext cx="104287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Direct access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1DF733-1C26-4D0C-8B1F-1451F7C32974}"/>
              </a:ext>
            </a:extLst>
          </p:cNvPr>
          <p:cNvSpPr txBox="1"/>
          <p:nvPr/>
        </p:nvSpPr>
        <p:spPr>
          <a:xfrm>
            <a:off x="5206407" y="3216664"/>
            <a:ext cx="104287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No access</a:t>
            </a:r>
          </a:p>
        </p:txBody>
      </p:sp>
    </p:spTree>
    <p:extLst>
      <p:ext uri="{BB962C8B-B14F-4D97-AF65-F5344CB8AC3E}">
        <p14:creationId xmlns:p14="http://schemas.microsoft.com/office/powerpoint/2010/main" val="29995026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Technical Details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0CF2A-19A6-4DB8-AD68-0AE8C3F37AEB}"/>
              </a:ext>
            </a:extLst>
          </p:cNvPr>
          <p:cNvSpPr txBox="1"/>
          <p:nvPr/>
        </p:nvSpPr>
        <p:spPr>
          <a:xfrm>
            <a:off x="921488" y="1637414"/>
            <a:ext cx="5472224" cy="2778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The attacker found a SSRF vulnerability in Web Application inside EC2.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The vulnerability leads to the metadata service 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which is internal to EC2.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The metadata service (running on 169.254.169.254) leaks the credential keys related to the service roles assigned to the ec2 instance.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4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The EC2 had a role to access the s3 backup so that the attacker get access to the bucket.</a:t>
            </a:r>
            <a:endParaRPr kumimoji="0" lang="en-US" sz="14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99209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Reflecting with S.R.M</a:t>
            </a:r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0CF2A-19A6-4DB8-AD68-0AE8C3F37AEB}"/>
              </a:ext>
            </a:extLst>
          </p:cNvPr>
          <p:cNvSpPr txBox="1"/>
          <p:nvPr/>
        </p:nvSpPr>
        <p:spPr>
          <a:xfrm>
            <a:off x="921488" y="1637414"/>
            <a:ext cx="5472224" cy="2778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285750" marR="0" indent="-28575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The credentials in the metadata service of the EC2 instances belong to the AWS. It is security “of” the cloud.</a:t>
            </a:r>
          </a:p>
          <a:p>
            <a:pPr marL="285750" marR="0" indent="-28575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The metadata service which is internal to ec2  was never accessible from public.</a:t>
            </a:r>
          </a:p>
          <a:p>
            <a:pPr marL="285750" marR="0" indent="-28575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4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  <a:sym typeface="Arial"/>
            </a:endParaRPr>
          </a:p>
          <a:p>
            <a:pPr marL="285750" marR="0" indent="-28575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Data stored in S3 belongs to Security in the 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cloud.</a:t>
            </a:r>
          </a:p>
          <a:p>
            <a:pPr marL="285750" marR="0" indent="-28575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sym typeface="Arial"/>
              </a:rPr>
              <a:t>The Web server in the ec2 instance needs to be configured securely by Capital One. It is security “in” the cloud.</a:t>
            </a:r>
          </a:p>
        </p:txBody>
      </p:sp>
    </p:spTree>
    <p:extLst>
      <p:ext uri="{BB962C8B-B14F-4D97-AF65-F5344CB8AC3E}">
        <p14:creationId xmlns:p14="http://schemas.microsoft.com/office/powerpoint/2010/main" val="387699596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1107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Reflecting with Cloud Logging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1BB61-3B20-45A2-A571-4FC5712C3B52}"/>
              </a:ext>
            </a:extLst>
          </p:cNvPr>
          <p:cNvSpPr txBox="1"/>
          <p:nvPr/>
        </p:nvSpPr>
        <p:spPr>
          <a:xfrm>
            <a:off x="921488" y="1637414"/>
            <a:ext cx="5472224" cy="2778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R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Discover</a:t>
            </a: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Web Application Logs</a:t>
            </a: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S3 Server Access Logs</a:t>
            </a: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AWS CloudTrail Logs</a:t>
            </a:r>
          </a:p>
          <a:p>
            <a:pPr lvl="1" algn="just"/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lvl="1" algn="just"/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Collect 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Application log shippers (</a:t>
            </a:r>
            <a:r>
              <a:rPr lang="en-US" dirty="0" err="1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eg.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Filebeat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)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S3 log collectors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lvl="1" algn="just"/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Analyze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Attack pattern in Web App logs.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Unusual source location in S3 access logs.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Use of access key and token in </a:t>
            </a:r>
            <a:r>
              <a:rPr lang="en-US" dirty="0" err="1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cloudtrail</a:t>
            </a: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</a:rPr>
              <a:t> logs.</a:t>
            </a:r>
          </a:p>
          <a:p>
            <a:pPr marL="457200" lvl="1" indent="-174625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06613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80;p17"/>
          <p:cNvSpPr txBox="1"/>
          <p:nvPr/>
        </p:nvSpPr>
        <p:spPr>
          <a:xfrm>
            <a:off x="136399" y="2109124"/>
            <a:ext cx="4948802" cy="627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t>Demo</a:t>
            </a:r>
          </a:p>
        </p:txBody>
      </p:sp>
      <p:sp>
        <p:nvSpPr>
          <p:cNvPr id="124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4;p16"/>
          <p:cNvSpPr txBox="1"/>
          <p:nvPr/>
        </p:nvSpPr>
        <p:spPr>
          <a:xfrm>
            <a:off x="136398" y="259542"/>
            <a:ext cx="6153566" cy="646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defRPr sz="3000">
                <a:solidFill>
                  <a:srgbClr val="FFFFFF"/>
                </a:solidFill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r>
              <a:rPr lang="en-US" dirty="0"/>
              <a:t>References</a:t>
            </a:r>
            <a:endParaRPr dirty="0"/>
          </a:p>
        </p:txBody>
      </p:sp>
      <p:sp>
        <p:nvSpPr>
          <p:cNvPr id="121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1BB61-3B20-45A2-A571-4FC5712C3B52}"/>
              </a:ext>
            </a:extLst>
          </p:cNvPr>
          <p:cNvSpPr txBox="1"/>
          <p:nvPr/>
        </p:nvSpPr>
        <p:spPr>
          <a:xfrm>
            <a:off x="921488" y="1637414"/>
            <a:ext cx="5472224" cy="2778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https://docs.aws.amazon.com/vpc/latest/userguide/flow-logs-s3.html</a:t>
            </a: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https://docs.aws.amazon.com/AmazonS3/latest/dev/cloudtrail-logging.html</a:t>
            </a: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https://docs.aws.amazon.com/AWSSimpleQueueService/latest/SQSDeveloperGuide/sqs-logging-using-cloudtrail.html</a:t>
            </a: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  <a:p>
            <a:pPr marL="457200" lvl="1" indent="-173038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Hack Regular" panose="020B0609030202020204" pitchFamily="49" charset="0"/>
                <a:ea typeface="Hack Regular" panose="020B0609030202020204" pitchFamily="49" charset="0"/>
                <a:cs typeface="Hack Regular" panose="020B0609030202020204" pitchFamily="49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https://docs.aws.amazon.com/awscloudtrail/latest/userguide/cloudtrail-create-a-trail-using-the-console-first-time.html</a:t>
            </a:r>
            <a:endParaRPr lang="en-US" dirty="0">
              <a:solidFill>
                <a:schemeClr val="bg1"/>
              </a:solidFill>
              <a:latin typeface="Hack Regular" panose="020B0609030202020204" pitchFamily="49" charset="0"/>
              <a:ea typeface="Hack Regular" panose="020B0609030202020204" pitchFamily="49" charset="0"/>
              <a:cs typeface="Hack Regular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0754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98;p20"/>
          <p:cNvSpPr txBox="1"/>
          <p:nvPr/>
        </p:nvSpPr>
        <p:spPr>
          <a:xfrm>
            <a:off x="194825" y="2001900"/>
            <a:ext cx="4305600" cy="894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4800">
                <a:solidFill>
                  <a:srgbClr val="FFFFFF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Thank you!</a:t>
            </a:r>
          </a:p>
        </p:txBody>
      </p:sp>
      <p:sp>
        <p:nvSpPr>
          <p:cNvPr id="135" name="Google Shape;56;p13"/>
          <p:cNvSpPr txBox="1"/>
          <p:nvPr/>
        </p:nvSpPr>
        <p:spPr>
          <a:xfrm>
            <a:off x="-2579" y="4884763"/>
            <a:ext cx="2337902" cy="32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66666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r>
              <a:t>AWS User Group Myanmar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 dirty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</TotalTime>
  <Words>980</Words>
  <Application>Microsoft Office PowerPoint</Application>
  <PresentationFormat>On-screen Show (16:9)</PresentationFormat>
  <Paragraphs>226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Hack Bold</vt:lpstr>
      <vt:lpstr>Hack Regular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Aung Myint Myat</dc:creator>
  <cp:lastModifiedBy>Aung Myint Myat</cp:lastModifiedBy>
  <cp:revision>75</cp:revision>
  <dcterms:modified xsi:type="dcterms:W3CDTF">2020-05-10T10:24:46Z</dcterms:modified>
</cp:coreProperties>
</file>